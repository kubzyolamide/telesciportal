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2F6B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3291840" cy="3291840"/>
          </a:xfrm>
          <a:prstGeom prst="ellipse">
            <a:avLst/>
          </a:prstGeom>
          <a:solidFill>
            <a:srgbClr val="F2A93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DEFENSE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692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Energy Management of EV Charging Stations Using Renewable Microgrid Systems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smart software — not more solar panels — gets more electric cars fully charged using clean energy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Abdulrahman, Ibrahim Adeiza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 No.: 21/52HP048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Telecommunications Science, University of Ilorin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Akande H.B.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Study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893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 are switching to electric cars every year — and every one of them needs somewhere to plug in.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many cars at once pulls a huge amount of power from the electricity grid, the same way turning on dozens of kettles at once would.</a:t>
            </a:r>
            <a:endParaRPr lang="en-US" sz="140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power — sunlight and wind — can charge cars without burning fuel. The catch: the sun and wind don't always show up exactly when cars need them.</a:t>
            </a:r>
            <a:endParaRPr lang="en-US" sz="14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4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asks a simple question: can smarter software make clean energy stretch further, without buying more solar panels or batteries?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03720" y="1600200"/>
            <a:ext cx="47548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1B">
                <a:alpha val="18000"/>
              </a:srgbClr>
            </a:outerShdw>
          </a:effectLst>
        </p:spPr>
      </p:sp>
      <p:pic>
        <p:nvPicPr>
          <p:cNvPr id="6" name="Image 0" descr="/home/claude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874520"/>
            <a:ext cx="4114800" cy="22951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0" y="42793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— Where our energy currently comes from (US, 2019)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78040" y="475488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plants and transport together burn most of our energy today — exactly the two areas this project tries to make cleaner and smarter.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in Plain Terms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bad timing between two daily routines: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FF4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505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6:00 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94436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is barely up. Solar panels make almost no power yet.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10812" y="3200400"/>
            <a:ext cx="27432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2860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12362A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4505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8:00–10:00 AM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0600" y="294436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staff and students arrive and plug in their cars — the busiest charging window of the day.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42732" y="3200400"/>
            <a:ext cx="27432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22860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EFF4F0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24505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1:00 PM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32520" y="2944368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is at its strongest — but by now many morning cars have already left, undercharged.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FF4F0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09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 — "first come, first served" — just charges cars in the order they plug in.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no idea the sun is about to get stronger, so it can't plan ahead.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Other Researchers Found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Uncontrolled charging hurts the grid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Razeghi et al. (2014) and Mullan et al. (2011) found that letting cars charge whenever they like overloads transformers and wastes their lifespan faster.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180136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timing helps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24231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(2014) showed shifting charging to quieter hours reduces strain — but their method assumed we already know exactly what's coming, which isn't realistic.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85876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Clean-energy microgrids work well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4480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Sayed et al. (2019) and Tanrioven (2005) proved solar + wind + battery systems can power EV charging almost entirely on clean energy.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88620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3858768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 help predict power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46520" y="44805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et al. (2023) showed that machine learning can forecast upcoming solar and wind power well enough to guide smarter decisions in real time.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Still Missing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B4A3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93392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82880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simple, or too complicated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2212848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were either basic fixed rules (no real intelligence) or needed heavy computing power few campuses can afford.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B4A3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346704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4670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318211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wrong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37360" y="3566160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studies focus on wealthy, grid-connected cities — not university campuses in places like Nigeria with tighter budgets and less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43984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1B4A3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00016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000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37360" y="4535424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and scheduling, kept apart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4919472"/>
            <a:ext cx="9509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9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had combined "predicting the weather 30 minutes ahead" with "deciding which car to charge next" into one lightweight, practical system.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fills that gap with a practical system that predicts, then schedules — built for a real campus.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Timing Problem, Not a Shortage of Power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89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 that rely on "first come, first served" don't know when the sun will be strongest, how full a battery already is, or when a car needs to leave. So they hand out power blindly — some cars leave half-charged, even though there was enough clean energy for everyone, just not at the right moment.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989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 that plans ahead, campus EV users lose confidence in charging stations — and the station ends up leaning on the regular (non-clean) power grid more than it should.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1645920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1B4A3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75564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08:00–10:00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2304288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most cars arrive to charge — the busiest, sunniest-starved window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0" y="3182112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1B4A3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3291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086600" y="38404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solar power peaks — often after early cars have already left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4718304"/>
            <a:ext cx="4800600" cy="1325880"/>
          </a:xfrm>
          <a:prstGeom prst="roundRect">
            <a:avLst>
              <a:gd name="adj" fmla="val 5517"/>
            </a:avLst>
          </a:prstGeom>
          <a:solidFill>
            <a:srgbClr val="1B4A3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482803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"First Come"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086600" y="537667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9E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rule: charge whoever plugged in first, no matter what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AIM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FF4F0"/>
          </a:solidFill>
          <a:ln w="12700">
            <a:solidFill>
              <a:srgbClr val="DCE6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smart charging system for a campus EV station, powered by solar, wind, and battery storage, that gets more cars fully charged using clean energy — without buying any extra equipment.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051914" cy="324612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1989" y="2953512"/>
            <a:ext cx="585216" cy="58521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8" name="Text 6"/>
          <p:cNvSpPr/>
          <p:nvPr/>
        </p:nvSpPr>
        <p:spPr>
          <a:xfrm>
            <a:off x="1281989" y="2953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3685032"/>
            <a:ext cx="179588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microgrid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76656" y="4233672"/>
            <a:ext cx="179588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realistic setup: solar panels, a wind turbine, and a battery, running a full 15-hour day.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01722" y="2697480"/>
            <a:ext cx="2051914" cy="324612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5070" y="2953512"/>
            <a:ext cx="585216" cy="58521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3535070" y="2953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9738" y="3685032"/>
            <a:ext cx="179588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it to predict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29738" y="4233672"/>
            <a:ext cx="179588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computer model to guess solar and wind power 30 minutes before it happens.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54803" y="2697480"/>
            <a:ext cx="2051914" cy="324612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88152" y="2953512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788152" y="2953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82819" y="3685032"/>
            <a:ext cx="179588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3 strategies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82819" y="4233672"/>
            <a:ext cx="179588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old "first come" method, a smarter priority method, and our new predictive method.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07885" y="2697480"/>
            <a:ext cx="2051914" cy="324612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1234" y="2953512"/>
            <a:ext cx="585216" cy="58521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3" name="Text 21"/>
          <p:cNvSpPr/>
          <p:nvPr/>
        </p:nvSpPr>
        <p:spPr>
          <a:xfrm>
            <a:off x="8041234" y="2953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35901" y="3685032"/>
            <a:ext cx="179588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the results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35901" y="4233672"/>
            <a:ext cx="179588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how many cars got fully charged, and how much clean vs. grid power was used.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560966" y="2697480"/>
            <a:ext cx="2051914" cy="324612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294315" y="2953512"/>
            <a:ext cx="585216" cy="585216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8" name="Text 26"/>
          <p:cNvSpPr/>
          <p:nvPr/>
        </p:nvSpPr>
        <p:spPr>
          <a:xfrm>
            <a:off x="10294315" y="29535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88982" y="3685032"/>
            <a:ext cx="179588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practical advice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688982" y="4233672"/>
            <a:ext cx="179588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findings into simple recommendations universities can actually use.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We Built (in Simulation)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was tested in a computer simulation of a real campus day — no physical hardware was needed to get these results.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51914" cy="379476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08837" y="2423160"/>
            <a:ext cx="731520" cy="73152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7" name="Text 5"/>
          <p:cNvSpPr/>
          <p:nvPr/>
        </p:nvSpPr>
        <p:spPr>
          <a:xfrm>
            <a:off x="1208837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" y="3291840"/>
            <a:ext cx="1795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Panels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" y="3840480"/>
            <a:ext cx="179588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kW of panels — like the roof of a small building — producing power that rises and falls with the sun.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01722" y="2148840"/>
            <a:ext cx="2051914" cy="379476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61918" y="2423160"/>
            <a:ext cx="731520" cy="73152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3461918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9738" y="3291840"/>
            <a:ext cx="1795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 Turbine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9738" y="3840480"/>
            <a:ext cx="179588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 kW turbine adding a steadier trickle of power, day and night.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54803" y="2148840"/>
            <a:ext cx="2051914" cy="379476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15000" y="2423160"/>
            <a:ext cx="731520" cy="73152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82819" y="3291840"/>
            <a:ext cx="1795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Storage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82819" y="3840480"/>
            <a:ext cx="179588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400 kWh battery that banks surplus power and releases it when it's needed most.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07885" y="2148840"/>
            <a:ext cx="2051914" cy="379476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68082" y="2423160"/>
            <a:ext cx="731520" cy="73152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7968082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35901" y="3291840"/>
            <a:ext cx="1795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Backup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35901" y="3840480"/>
            <a:ext cx="179588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limited connection to the regular power grid, used only as a last resort.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60966" y="2148840"/>
            <a:ext cx="2051914" cy="379476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76200" dist="25400" dir="5400000">
              <a:srgbClr val="1B1F1B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21163" y="2423160"/>
            <a:ext cx="731520" cy="731520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27" name="Text 25"/>
          <p:cNvSpPr/>
          <p:nvPr/>
        </p:nvSpPr>
        <p:spPr>
          <a:xfrm>
            <a:off x="10221163" y="2423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88982" y="3291840"/>
            <a:ext cx="1795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Charging Cars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88982" y="3840480"/>
            <a:ext cx="179588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day of 25 electric cars arriving, parking, and leaving at different times.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Decide "Who Charges Next"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84448" cy="420624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88900" dist="38100" dir="5400000">
              <a:srgbClr val="1B1F1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FF4F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Come, First Served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03580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cars strictly in the order they plug in — like a queue at a shop counter. Ignores battery level, deadline, or sunshine.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691640"/>
            <a:ext cx="3584448" cy="420624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88900" dist="38100" dir="5400000">
              <a:srgbClr val="1B1F1B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FF4F0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08576" y="242316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23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Scheduling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08576" y="3337560"/>
            <a:ext cx="303580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the neediest cars first — low battery, leaving soon. Better, but still has no idea whether the sun is about to get stronger.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9872" y="1691640"/>
            <a:ext cx="3584448" cy="4206240"/>
          </a:xfrm>
          <a:prstGeom prst="roundRect">
            <a:avLst>
              <a:gd name="adj" fmla="val 2551"/>
            </a:avLst>
          </a:prstGeom>
          <a:solidFill>
            <a:srgbClr val="12362A"/>
          </a:solidFill>
          <a:ln w="12700">
            <a:solidFill>
              <a:srgbClr val="2F6B4F"/>
            </a:solidFill>
            <a:prstDash val="solid"/>
          </a:ln>
          <a:effectLst>
            <a:outerShdw sx="100000" sy="100000" kx="0" ky="0" algn="bl" rotWithShape="0" blurRad="88900" dist="38100" dir="5400000">
              <a:srgbClr val="1B1F1B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1920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METHOD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394192" y="242316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Predictive Scheduling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3337560"/>
            <a:ext cx="303580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urgency with a 30-minute weather forecast. It saves battery power for cars that truly need it, and spends generously when sunshine is abundant.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Sun and Wind Did We Actually Have?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0408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88900" dist="38100" dir="5400000">
              <a:srgbClr val="1B1F1B">
                <a:alpha val="15000"/>
              </a:srgbClr>
            </a:outerShdw>
          </a:effectLst>
        </p:spPr>
      </p:sp>
      <p:pic>
        <p:nvPicPr>
          <p:cNvPr id="5" name="Image 0" descr="/home/claude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45920"/>
            <a:ext cx="6711696" cy="4279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5943600"/>
            <a:ext cx="6711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— Solar &amp; wind output vs. building demand and car arrivals across the day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18120" y="16916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power builds up slowly, peaks around 1 PM, and fades by evening — just as expected.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early morning, there simply isn't enough sun yet — a real "energy gap."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over the whole day, we generated 30% more clean energy than all 25 cars needed combined.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real challenge isn't a shortage — it's matching supply to demand at the right time.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 We Predict the Weather 30 Minutes Ahead?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0408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88900" dist="38100" dir="5400000">
              <a:srgbClr val="1B1F1B">
                <a:alpha val="15000"/>
              </a:srgbClr>
            </a:outerShdw>
          </a:effectLst>
        </p:spPr>
      </p:sp>
      <p:pic>
        <p:nvPicPr>
          <p:cNvPr id="5" name="Image 0" descr="/home/claude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45920"/>
            <a:ext cx="6711696" cy="45994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263640"/>
            <a:ext cx="6711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— Predicted vs. actual solar and wind power, 30 minutes ahead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818120" y="1691640"/>
            <a:ext cx="38404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a computer model on two weeks of weather-like data to "guess" the next 30 minutes of solar and wind power.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predictions matched reality about 95% of the time — accurate enough to plan around.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forecast is what lets our smart scheduler "see" a sunny afternoon coming and hold back battery power for it.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Strategy Charged the Most Cars Fully?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2636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88900" dist="38100" dir="5400000">
              <a:srgbClr val="1B1F1B">
                <a:alpha val="15000"/>
              </a:srgbClr>
            </a:outerShdw>
          </a:effectLst>
        </p:spPr>
      </p:sp>
      <p:pic>
        <p:nvPicPr>
          <p:cNvPr id="5" name="Image 0" descr="/home/claude/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19072"/>
            <a:ext cx="5943600" cy="35387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53218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— Head-to-head comparison of all three charging strategies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99516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9235440" y="1600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241280" y="1600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Way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95160" y="1947672"/>
            <a:ext cx="4480560" cy="566928"/>
          </a:xfrm>
          <a:prstGeom prst="rect">
            <a:avLst/>
          </a:prstGeom>
          <a:solidFill>
            <a:srgbClr val="EFF4F0"/>
          </a:solidFill>
          <a:ln/>
        </p:spPr>
      </p:sp>
      <p:sp>
        <p:nvSpPr>
          <p:cNvPr id="11" name="Text 8"/>
          <p:cNvSpPr/>
          <p:nvPr/>
        </p:nvSpPr>
        <p:spPr>
          <a:xfrm>
            <a:off x="7114032" y="194767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fully charged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235440" y="1947672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241280" y="194767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95160" y="2514600"/>
            <a:ext cx="44805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7114032" y="251460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rate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235440" y="2514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241280" y="251460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95160" y="3081528"/>
            <a:ext cx="4480560" cy="566928"/>
          </a:xfrm>
          <a:prstGeom prst="rect">
            <a:avLst/>
          </a:prstGeom>
          <a:solidFill>
            <a:srgbClr val="EFF4F0"/>
          </a:solidFill>
          <a:ln/>
        </p:spPr>
      </p:sp>
      <p:sp>
        <p:nvSpPr>
          <p:cNvPr id="19" name="Text 16"/>
          <p:cNvSpPr/>
          <p:nvPr/>
        </p:nvSpPr>
        <p:spPr>
          <a:xfrm>
            <a:off x="7114032" y="308152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 delivered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235440" y="3081528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730.0 kWh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241280" y="308152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852.9 kWh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995160" y="3648456"/>
            <a:ext cx="44805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7114032" y="364845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powered by clean energy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235440" y="3648456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82.9%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241280" y="364845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995160" y="4379976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12362A"/>
          </a:solidFill>
          <a:ln/>
        </p:spPr>
      </p:sp>
      <p:sp>
        <p:nvSpPr>
          <p:cNvPr id="27" name="Text 24"/>
          <p:cNvSpPr/>
          <p:nvPr/>
        </p:nvSpPr>
        <p:spPr>
          <a:xfrm>
            <a:off x="7178040" y="4489704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smart method charged 6 more cars fully, using almost the same amount of grid backup power as the old method.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Picture: Everything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2237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CE6DF"/>
            </a:solidFill>
            <a:prstDash val="solid"/>
          </a:ln>
          <a:effectLst>
            <a:outerShdw sx="100000" sy="100000" kx="0" ky="0" algn="bl" rotWithShape="0" blurRad="88900" dist="38100" dir="5400000">
              <a:srgbClr val="1B1F1B">
                <a:alpha val="15000"/>
              </a:srgbClr>
            </a:outerShdw>
          </a:effectLst>
        </p:spPr>
      </p:sp>
      <p:pic>
        <p:nvPicPr>
          <p:cNvPr id="5" name="Image 0" descr="/home/claude/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73352"/>
            <a:ext cx="6035040" cy="4590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6309360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— Master summary dashboard: satisfaction, energy, power flow, and per-car results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001000" y="169164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▪"/>
            </a:pPr>
            <a:r>
              <a:rPr lang="en-US" sz="11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not total power, was the real bottleneck all along.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weather 30 minutes ahead was accurate enough to guide real decisions.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 lifted satisfaction from 72% to 96% — with the same solar panels, same battery, same wind turbine.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bit of extra grid backup (about the energy of one kettle running for a few hours) unlocked a much bigger clean-energy benefit.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CONCLUSION &amp;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Software, Not Hardware, Is the Real Upgrade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Conclusion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more solar panels or a bigger battery to charge more cars — you need smarter software that knows when the sun is coming.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weather 30 minutes ahead is simple enough to run on a laptop, no supercomputer needed.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 bit of battery power for the morning rush, instead of using it all overnight, made the biggest difference.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increase in grid backup use was a fair trade for far more happy, fully-charged drivers.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0" cy="4572000"/>
          </a:xfrm>
          <a:prstGeom prst="line">
            <a:avLst/>
          </a:prstGeom>
          <a:noFill/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00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Recommendations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96596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installing EV chargers should invest in smart scheduling software first — it's cheaper than buying more panels or batteries.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this system on a real charging station, starting with a small pilot at University of Ilorin.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weather prediction a standard feature of every campus charging system.</a:t>
            </a:r>
            <a:endParaRPr lang="en-US" sz="120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7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system's settings using real, ongoing usage data once it's deployed.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18488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Amir, M., et al. (2023). Intelligent energy management scheme-based coordinated control for reducing peak load in grid-connected PV-powered EV charging stations. IET Generation, Transmission &amp; Distribution, 18(6), 1205–1222.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761488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Hannan, M. A., Azidin, F. A., &amp; Mohamed, A. (2014). Hybrid electric vehicles and their challenges: A review. Renewable and Sustainable Energy Reviews, 29, 135–150.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904488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Kumar, P., et al. (2025). A comprehensive review of vehicle-to-grid integration in electric vehicles. Energy Conversion and Management: X, 25, 100864.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16636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5047488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Razeghi, G., Zhang, L., Brown, T., &amp; Samuelsen, S. (2014). Impacts of plug-in hybrid electric vehicles on a residential transformer. Journal of Power Sources, 252, 277–285.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519672" y="1618488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Sayed, K., Abo-Khalil, A. G., &amp; Alghamdi, A. S. (2019). Optimum resilient operation and control DC microgrid based EV charging station powered by renewable energy sources. Energies, 12(22), 4240.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288036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2761488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Tuchnitz, F., Ebell, N., Schlund, J., &amp; Pruckner, M. (2021). Development and evaluation of a smart charging strategy for an EV fleet based on reinforcement learning. Applied Energy, 285, 116382.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3904488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L., Jabbari, F., Brown, T., &amp; Samuelsen, S. (2014). Coordinating plug-in electric vehicle charging with electric grid: Valley filling and target load following. IEEE J. Selected Topics in Signal Processing, 8(6), 1073–1083.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5166360"/>
            <a:ext cx="73152" cy="7315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5047488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1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Dorokhova, M., Martinson, Y., Ballif, C., &amp; Wyrsch, N. (2021). Deep reinforcement learning control of EV charging in the presence of PV generation. Applied Energy, 301, 117504.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list (24 sources) available in the accompanying project report, Chapter References.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2026-07-30T10:36:53Z</dcterms:created>
  <dcterms:modified xsi:type="dcterms:W3CDTF">2026-07-30T10:36:53Z</dcterms:modified>
</cp:coreProperties>
</file>